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Hoy repasamos cuatro bloques: el complejo y la organización, cómo funciona el torneo, las reglas de convivencia, y el comité de disciplina. Cada equipo participa con un solo delegado como interlocutor oficial. Estreno: sábado 29 de agosto.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Destacar la calidad del pasto natural y el drenaje: se juega aunque llueva. Los camarines, baños y duchas están en pronta habilitación; el club house sumará un segundo piso.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Recalcar que todo esto ya está operativo: web, grabación, arbitraje, premios. La zona infantil y el ambiente familiar son un sello de LIV.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visión que queremos que los equipos compren: no vienen a jugar un torneo, vienen a ser parte de un proyecto que crece. Membresías y uso de la infraestructura como socios.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clarísimo el desempate: primero partido entre empatados, después diferencia de goles. Los 4 primeros pelean el título en Copa de Oro.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3 horarios de LIV son 9:00, 10:40 y 12:20. Preferentemente Senior juega 9:00 y 10:40; Junior juega 10:40 y 12:20.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Confirmar que están los 10 delegados presentes.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cancha tiene dos camarines de preferencia asignados por la liga. Se exige usar el camarín asignado, por orden y respeto.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Invitar a los delegados a revisar el fixture completo en la web. Una vez publicado, horarios y canchas son obligatorios y no se cambian por cuenta propia.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punto más importante del bloque de reglas. Somos una liga familiar y la violencia se corta de raíz. Todo queda grabado.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mucho hincapié: la puntualidad es clave. La organización tiene todo listo a la hora, los árbitros equipados a la hora, y los equipos deben respetarla. Que tomen las medidas del caso para llegar a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alcohol solo en las zonas habilitadas: club house y quinchos. En bancas, galerías y camarines está estrictamente prohibido. Es una liga familiar.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firma con carnet es innegociable. La suplantación es de las faltas más graves: fuera de la liga los involucrados y 0-3 al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los equipos tienen voz y voto a través de sus 3 representantes. El comité sesiona solo cuando hay algo que tipificar, una apelación o un hecho grave que investigar.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el bloque de reglas: lo automático se aplica solo; lo grave va a comité; y siempre existe la vía de apelación con video. La regla de oro: si hay un video que prueba lo contrario, el comité lo evalúa.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reforzar puntualidad y ambiente familiar. Cualquier duda, el delegado es el canal oficial con la Liga.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skills/synced/liv-presentation/assets/st-green-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17320"/>
          </a:xfrm>
          <a:prstGeom prst="rect">
            <a:avLst/>
          </a:prstGeom>
        </p:spPr>
      </p:pic>
      <p:pic>
        <p:nvPicPr>
          <p:cNvPr id="3" name="Image 1" descr="/root/.claude/skills/synced/liv-presentation/assets/st-green-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23560"/>
            <a:ext cx="12191695" cy="1234440"/>
          </a:xfrm>
          <a:prstGeom prst="rect">
            <a:avLst/>
          </a:prstGeom>
        </p:spPr>
      </p:pic>
      <p:pic>
        <p:nvPicPr>
          <p:cNvPr id="4" name="Image 2" descr="/root/.claude/skills/synced/liv-presentation/assets/logo-liv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286000"/>
            <a:ext cx="2286000" cy="2286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3749040" y="239572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60" kern="0" dirty="0">
                <a:solidFill>
                  <a:srgbClr val="12B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REUNIÓN DE DELEGADOS · TEMPORADA 2026</a:t>
            </a:r>
            <a:endParaRPr lang="en-US" sz="1250" dirty="0"/>
          </a:p>
        </p:txBody>
      </p:sp>
      <p:sp>
        <p:nvSpPr>
          <p:cNvPr id="6" name="Text 1"/>
          <p:cNvSpPr/>
          <p:nvPr/>
        </p:nvSpPr>
        <p:spPr>
          <a:xfrm>
            <a:off x="3712464" y="2761488"/>
            <a:ext cx="7680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8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SERIE</a:t>
            </a:r>
            <a:endParaRPr lang="en-US" sz="5600" dirty="0"/>
          </a:p>
          <a:p>
            <a:pPr indent="0" marL="0">
              <a:lnSpc>
                <a:spcPts val="5208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JUNIOR</a:t>
            </a:r>
            <a:endParaRPr lang="en-US" sz="5600" dirty="0"/>
          </a:p>
        </p:txBody>
      </p:sp>
      <p:sp>
        <p:nvSpPr>
          <p:cNvPr id="7" name="Text 2"/>
          <p:cNvSpPr/>
          <p:nvPr/>
        </p:nvSpPr>
        <p:spPr>
          <a:xfrm>
            <a:off x="3749040" y="431596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dirty="0">
                <a:solidFill>
                  <a:srgbClr val="C8F54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Complejo, torneo, reglas y comité</a:t>
            </a:r>
            <a:endParaRPr lang="en-US" sz="3300" dirty="0"/>
          </a:p>
        </p:txBody>
      </p:sp>
      <p:sp>
        <p:nvSpPr>
          <p:cNvPr id="8" name="Shape 3"/>
          <p:cNvSpPr/>
          <p:nvPr/>
        </p:nvSpPr>
        <p:spPr>
          <a:xfrm>
            <a:off x="9921240" y="2450592"/>
            <a:ext cx="50292" cy="2286000"/>
          </a:xfrm>
          <a:prstGeom prst="rect">
            <a:avLst/>
          </a:prstGeom>
          <a:solidFill>
            <a:srgbClr val="089349"/>
          </a:solidFill>
          <a:ln w="12700">
            <a:solidFill>
              <a:srgbClr val="089349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0168128" y="2450592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LIGA</a:t>
            </a:r>
            <a:endParaRPr lang="en-US" sz="19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LA CUARTA</a:t>
            </a: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10168128" y="3529584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2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estándar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2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las mejores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8FA2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ligas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10168128" y="44439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B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somosliv.cl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67A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SECCIÓN 1 · EL COMPLEJO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12"/>
              </a:lnSpc>
              <a:buNone/>
            </a:pPr>
            <a:r>
              <a:rPr lang="en-US" sz="44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FORTALEZAS</a:t>
            </a:r>
            <a:endParaRPr lang="en-US" sz="4400" dirty="0"/>
          </a:p>
          <a:p>
            <a:pPr algn="l" indent="0" marL="0">
              <a:lnSpc>
                <a:spcPts val="4312"/>
              </a:lnSpc>
              <a:buNone/>
            </a:pPr>
            <a:r>
              <a:rPr lang="en-US" sz="44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DEL COMPLEJO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58368" y="175564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7A3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Peñuelas, entre La Serena y Coquimbo</a:t>
            </a:r>
            <a:endParaRPr lang="en-US" sz="2600" dirty="0"/>
          </a:p>
        </p:txBody>
      </p:sp>
      <p:pic>
        <p:nvPicPr>
          <p:cNvPr id="5" name="Image 0" descr="/root/.claude/skills/synced/liv-presentation/assets/fotos/complejo-panoramic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2487168"/>
            <a:ext cx="6858000" cy="36758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2542032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18120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540496" y="2569464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32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canchas de pasto natural, medidas FIFA, excelente drenaje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818120" y="33832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3383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290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540496" y="341071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32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estacionamientos (con posible ampliación)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818120" y="42245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+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540496" y="4251960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32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camarines, baños y duchas (pronta habilitación)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818120" y="5065776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5065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+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540496" y="5093208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32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club house (pronto 2° piso) y quinchos habilitados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818120" y="5870448"/>
            <a:ext cx="3721608" cy="310896"/>
          </a:xfrm>
          <a:prstGeom prst="roundRect">
            <a:avLst>
              <a:gd name="adj" fmla="val 50000"/>
            </a:avLst>
          </a:prstGeom>
          <a:solidFill>
            <a:srgbClr val="D7EFE1"/>
          </a:solidFill>
          <a:ln w="12700">
            <a:solidFill>
              <a:srgbClr val="D7EF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18120" y="5870448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6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Zona céntrica, áreas verdes y ambiente familiar.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58368" y="63093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A9B5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skills/synced/liv-presentation/assets/st-white-vert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0" y="0"/>
            <a:ext cx="84124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813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12B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SECCIÓN 1 · LA ORGANIZACIÓN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481328" y="98755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CÓMO</a:t>
            </a:r>
            <a:endParaRPr lang="en-US" sz="4200" dirty="0"/>
          </a:p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TRABAJAMOS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1481328" y="2139696"/>
            <a:ext cx="9966960" cy="838962"/>
          </a:xfrm>
          <a:prstGeom prst="roundRect">
            <a:avLst>
              <a:gd name="adj" fmla="val 17439"/>
            </a:avLst>
          </a:prstGeom>
          <a:solidFill>
            <a:srgbClr val="141F17"/>
          </a:solidFill>
          <a:ln w="12700">
            <a:solidFill>
              <a:srgbClr val="22322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755648" y="2220849"/>
            <a:ext cx="676656" cy="676656"/>
          </a:xfrm>
          <a:prstGeom prst="roundRect">
            <a:avLst>
              <a:gd name="adj" fmla="val 21622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755648" y="2220849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651760" y="234086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8F54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EN LA CANCHA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651760" y="2724912"/>
            <a:ext cx="850392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7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Grabación con cámaras VEO, balones oficiales de la Liga, arbitraje renovado y planillas oficiales cada fecha.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481328" y="3124962"/>
            <a:ext cx="9966960" cy="838962"/>
          </a:xfrm>
          <a:prstGeom prst="roundRect">
            <a:avLst>
              <a:gd name="adj" fmla="val 17439"/>
            </a:avLst>
          </a:prstGeom>
          <a:solidFill>
            <a:srgbClr val="141F17"/>
          </a:solidFill>
          <a:ln w="12700">
            <a:solidFill>
              <a:srgbClr val="2232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55648" y="3206115"/>
            <a:ext cx="676656" cy="676656"/>
          </a:xfrm>
          <a:prstGeom prst="roundRect">
            <a:avLst>
              <a:gd name="adj" fmla="val 21622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55648" y="3206115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651760" y="332613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8F54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ORDEN Y PUNTUALIDAD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651760" y="3710178"/>
            <a:ext cx="850392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7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Respeto estricto de los horarios y orden dentro del complejo, de principio a fin.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481328" y="4110228"/>
            <a:ext cx="9966960" cy="838962"/>
          </a:xfrm>
          <a:prstGeom prst="roundRect">
            <a:avLst>
              <a:gd name="adj" fmla="val 17439"/>
            </a:avLst>
          </a:prstGeom>
          <a:solidFill>
            <a:srgbClr val="141F17"/>
          </a:solidFill>
          <a:ln w="12700">
            <a:solidFill>
              <a:srgbClr val="2232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55648" y="4191381"/>
            <a:ext cx="676656" cy="676656"/>
          </a:xfrm>
          <a:prstGeom prst="roundRect">
            <a:avLst>
              <a:gd name="adj" fmla="val 21622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55648" y="4191381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651760" y="43113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8F54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PREMIOS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651760" y="4695444"/>
            <a:ext cx="850392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7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Premio de marca todas las fechas, premios por mes y premio en efectivo al campeón.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1481328" y="5095494"/>
            <a:ext cx="9966960" cy="838962"/>
          </a:xfrm>
          <a:prstGeom prst="roundRect">
            <a:avLst>
              <a:gd name="adj" fmla="val 17439"/>
            </a:avLst>
          </a:prstGeom>
          <a:solidFill>
            <a:srgbClr val="141F17"/>
          </a:solidFill>
          <a:ln w="12700">
            <a:solidFill>
              <a:srgbClr val="22322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755648" y="5176647"/>
            <a:ext cx="676656" cy="676656"/>
          </a:xfrm>
          <a:prstGeom prst="roundRect">
            <a:avLst>
              <a:gd name="adj" fmla="val 21622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755648" y="5176647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2651760" y="529666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8F54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COMUNIDAD Y DIGITAL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2651760" y="5680710"/>
            <a:ext cx="850392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7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Página web propia, redes sociales activas y zona infantil para las familias.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58368" y="63093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6E8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skills/synced/liv-presentation/assets/fotos/complejo-plano-maest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0"/>
            <a:ext cx="5285232" cy="6858000"/>
          </a:xfrm>
          <a:prstGeom prst="rect">
            <a:avLst/>
          </a:prstGeom>
        </p:spPr>
      </p:pic>
      <p:pic>
        <p:nvPicPr>
          <p:cNvPr id="3" name="Image 1" descr="/root/.claude/skills/synced/liv-presentation/assets/st-green-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0372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67A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SECCIÓN 1 · VISIÓN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700784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HACIA UN</a:t>
            </a:r>
            <a:endParaRPr lang="en-US" sz="4200" dirty="0"/>
          </a:p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CLUB, NO SOLO</a:t>
            </a:r>
            <a:endParaRPr lang="en-US" sz="4200" dirty="0"/>
          </a:p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UNA LIGA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658368" y="3767328"/>
            <a:ext cx="5577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339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complejo está en formación, con un plan de mejora continua hacia instalaciones de mejor nivel.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339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mirada de largo plazo es un complejo integral —único en la región— donde los equipos integren un club con membresías: fútbol, futbolito, tenis, pádel, quinchos, restaurante, salón de eventos y celebraciones, como socios.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658368" y="63093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A9B5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skills/synced/liv-presentation/assets/fotos/acc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285232" cy="6858000"/>
          </a:xfrm>
          <a:prstGeom prst="rect">
            <a:avLst/>
          </a:prstGeom>
        </p:spPr>
      </p:pic>
      <p:pic>
        <p:nvPicPr>
          <p:cNvPr id="3" name="Image 1" descr="/root/.claude/skills/synced/liv-presentation/assets/st-green-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0"/>
            <a:ext cx="690372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67A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SECCIÓN 2 · EL TORNEO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43600" y="1700784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10 EQUIPOS,</a:t>
            </a:r>
            <a:endParaRPr lang="en-US" sz="4200" dirty="0"/>
          </a:p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9 FECHAS,</a:t>
            </a:r>
            <a:endParaRPr lang="en-US" sz="4200" dirty="0"/>
          </a:p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UNA COPA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5943600" y="3767328"/>
            <a:ext cx="5577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339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Junior son 10 equipos, todos contra todos en 9 fechas de fase regular. Se ordenan por puntos; ante igualdad define un partido entre los empatados y luego la diferencia de goles.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339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1° a 4° van a semifinales de la Copa de Oro, 5° a 8° a la Copa de Plata, y los últimos 2 disputan quién desciende directamente.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658368" y="63093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A9B5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67A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SECCIÓN 2 · HORARIOS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TRES HORARIOS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Preferentemente: Senior temprano, Junior más tarde.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432304"/>
            <a:ext cx="3417722" cy="3602736"/>
          </a:xfrm>
          <a:prstGeom prst="roundRect">
            <a:avLst>
              <a:gd name="adj" fmla="val 5351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26883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8F54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09:00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69264" y="3310128"/>
            <a:ext cx="279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SENIOR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9264" y="3877056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3877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60" kern="0" dirty="0">
                <a:solidFill>
                  <a:srgbClr val="1F3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1er bloque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9264" y="4352544"/>
            <a:ext cx="279593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B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Arranca la jornada con la serie Senior.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6986" y="2432304"/>
            <a:ext cx="3417722" cy="3602736"/>
          </a:xfrm>
          <a:prstGeom prst="roundRect">
            <a:avLst>
              <a:gd name="adj" fmla="val 5351"/>
            </a:avLst>
          </a:prstGeom>
          <a:solidFill>
            <a:srgbClr val="FFFFFF"/>
          </a:solidFill>
          <a:ln w="12700">
            <a:solidFill>
              <a:srgbClr val="D9E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7882" y="26883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67A3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10:40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97882" y="3310128"/>
            <a:ext cx="279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SENIOR /</a:t>
            </a:r>
            <a:endParaRPr lang="en-US" sz="2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JUNIOR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97882" y="4224528"/>
            <a:ext cx="2795930" cy="347472"/>
          </a:xfrm>
          <a:prstGeom prst="roundRect">
            <a:avLst>
              <a:gd name="adj" fmla="val 50000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7882" y="4224528"/>
            <a:ext cx="27959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6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 central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97882" y="4700016"/>
            <a:ext cx="279593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Horario compartido por ambas series.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15605" y="2432304"/>
            <a:ext cx="3417722" cy="3602736"/>
          </a:xfrm>
          <a:prstGeom prst="roundRect">
            <a:avLst>
              <a:gd name="adj" fmla="val 5351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26501" y="26883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8F54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12:20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426501" y="3310128"/>
            <a:ext cx="279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JUNIOR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426501" y="3877056"/>
            <a:ext cx="1499616" cy="347472"/>
          </a:xfrm>
          <a:prstGeom prst="roundRect">
            <a:avLst>
              <a:gd name="adj" fmla="val 50000"/>
            </a:avLst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26501" y="387705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60" kern="0" dirty="0">
                <a:solidFill>
                  <a:srgbClr val="1F3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cierre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26501" y="4352544"/>
            <a:ext cx="279593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B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Último bloque del día, serie Junior.</a:t>
            </a:r>
            <a:endParaRPr lang="en-US" sz="1200" dirty="0"/>
          </a:p>
        </p:txBody>
      </p:sp>
      <p:pic>
        <p:nvPicPr>
          <p:cNvPr id="23" name="Image 0" descr="/root/.claude/skills/synced/liv-presentation/assets/st-green-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291072"/>
            <a:ext cx="12191695" cy="56692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58368" y="563270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A9B5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67A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SECCIÓN 2 · LA NÓMINA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LOS 10 EQUIPOS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58368" y="2148840"/>
            <a:ext cx="2014057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6DE"/>
            </a:solidFill>
            <a:prstDash val="solid"/>
          </a:ln>
        </p:spPr>
      </p:sp>
      <p:pic>
        <p:nvPicPr>
          <p:cNvPr id="5" name="Image 0" descr="/home/claude/LIV/public/assets/equipos/los-pib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2457" y="2295144"/>
            <a:ext cx="1325880" cy="1325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566160"/>
            <a:ext cx="18677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32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Pibes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873593" y="2148840"/>
            <a:ext cx="2014057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6DE"/>
            </a:solidFill>
            <a:prstDash val="solid"/>
          </a:ln>
        </p:spPr>
      </p:sp>
      <p:pic>
        <p:nvPicPr>
          <p:cNvPr id="8" name="Image 1" descr="/home/claude/LIV/public/assets/equipos/camilo-enriquez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17682" y="2295144"/>
            <a:ext cx="1325880" cy="1325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46745" y="3566160"/>
            <a:ext cx="18677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32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Camilo Enríquez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088819" y="2148840"/>
            <a:ext cx="2014057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6DE"/>
            </a:solidFill>
            <a:prstDash val="solid"/>
          </a:ln>
        </p:spPr>
      </p:sp>
      <p:pic>
        <p:nvPicPr>
          <p:cNvPr id="11" name="Image 2" descr="/home/claude/LIV/public/assets/equipos/bunk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32908" y="2295144"/>
            <a:ext cx="1325880" cy="1325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61971" y="3566160"/>
            <a:ext cx="18677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32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Bunker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304044" y="2148840"/>
            <a:ext cx="2014057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6DE"/>
            </a:solidFill>
            <a:prstDash val="solid"/>
          </a:ln>
        </p:spPr>
      </p:sp>
      <p:pic>
        <p:nvPicPr>
          <p:cNvPr id="14" name="Image 3" descr="/home/claude/LIV/public/assets/equipos/mesa-cuadrad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648133" y="2295144"/>
            <a:ext cx="1325880" cy="1325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77196" y="3566160"/>
            <a:ext cx="18677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32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Mesa Cuadrada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9519270" y="2148840"/>
            <a:ext cx="2014057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6DE"/>
            </a:solidFill>
            <a:prstDash val="solid"/>
          </a:ln>
        </p:spPr>
      </p:sp>
      <p:pic>
        <p:nvPicPr>
          <p:cNvPr id="17" name="Image 4" descr="/home/claude/LIV/public/assets/equipos/huracan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863358" y="2295144"/>
            <a:ext cx="1325880" cy="1325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592422" y="3566160"/>
            <a:ext cx="18677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32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Huracán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58368" y="4279392"/>
            <a:ext cx="2014057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6DE"/>
            </a:solidFill>
            <a:prstDash val="solid"/>
          </a:ln>
        </p:spPr>
      </p:sp>
      <p:pic>
        <p:nvPicPr>
          <p:cNvPr id="20" name="Image 5" descr="/home/claude/LIV/public/assets/equipos/40-grados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02457" y="4425696"/>
            <a:ext cx="1325880" cy="1325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31520" y="5696712"/>
            <a:ext cx="18677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32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Grados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2873593" y="4279392"/>
            <a:ext cx="2014057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6DE"/>
            </a:solidFill>
            <a:prstDash val="solid"/>
          </a:ln>
        </p:spPr>
      </p:sp>
      <p:pic>
        <p:nvPicPr>
          <p:cNvPr id="23" name="Image 6" descr="/home/claude/LIV/public/assets/equipos/capibara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217682" y="4425696"/>
            <a:ext cx="1325880" cy="13258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946745" y="5696712"/>
            <a:ext cx="18677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32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Capibara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5088819" y="4279392"/>
            <a:ext cx="2014057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6DE"/>
            </a:solidFill>
            <a:prstDash val="solid"/>
          </a:ln>
        </p:spPr>
      </p:sp>
      <p:pic>
        <p:nvPicPr>
          <p:cNvPr id="26" name="Image 7" descr="/home/claude/LIV/public/assets/equipos/bayern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432908" y="4425696"/>
            <a:ext cx="1325880" cy="1325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61971" y="5696712"/>
            <a:ext cx="18677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32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Bayern Llevenpilsen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7304044" y="4279392"/>
            <a:ext cx="2014057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6DE"/>
            </a:solidFill>
            <a:prstDash val="solid"/>
          </a:ln>
        </p:spPr>
      </p:sp>
      <p:pic>
        <p:nvPicPr>
          <p:cNvPr id="29" name="Image 8" descr="/home/claude/LIV/public/assets/equipos/los-prados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648133" y="4425696"/>
            <a:ext cx="1325880" cy="13258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7377196" y="5696712"/>
            <a:ext cx="18677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32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Prados</a:t>
            </a:r>
            <a:endParaRPr lang="en-US" sz="1200" dirty="0"/>
          </a:p>
        </p:txBody>
      </p:sp>
      <p:sp>
        <p:nvSpPr>
          <p:cNvPr id="31" name="Shape 20"/>
          <p:cNvSpPr/>
          <p:nvPr/>
        </p:nvSpPr>
        <p:spPr>
          <a:xfrm>
            <a:off x="9519270" y="4279392"/>
            <a:ext cx="2014057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6DE"/>
            </a:solidFill>
            <a:prstDash val="solid"/>
          </a:ln>
        </p:spPr>
      </p:sp>
      <p:pic>
        <p:nvPicPr>
          <p:cNvPr id="32" name="Image 9" descr="/home/claude/LIV/public/assets/equipos/arquitectura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863358" y="4425696"/>
            <a:ext cx="1325880" cy="132588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9592422" y="5696712"/>
            <a:ext cx="18677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32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</a:t>
            </a:r>
            <a:endParaRPr lang="en-US" sz="1200" dirty="0"/>
          </a:p>
        </p:txBody>
      </p:sp>
      <p:sp>
        <p:nvSpPr>
          <p:cNvPr id="34" name="Text 22"/>
          <p:cNvSpPr/>
          <p:nvPr/>
        </p:nvSpPr>
        <p:spPr>
          <a:xfrm>
            <a:off x="658368" y="6291072"/>
            <a:ext cx="108749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nómina oficial de la serie Junior 2026.</a:t>
            </a:r>
            <a:endParaRPr lang="en-US" sz="1100" dirty="0"/>
          </a:p>
        </p:txBody>
      </p:sp>
      <p:sp>
        <p:nvSpPr>
          <p:cNvPr id="35" name="Text 23"/>
          <p:cNvSpPr/>
          <p:nvPr/>
        </p:nvSpPr>
        <p:spPr>
          <a:xfrm>
            <a:off x="658368" y="63093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A9B5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67A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SECCIÓN 2 · LAS CANCHAS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12"/>
              </a:lnSpc>
              <a:buNone/>
            </a:pPr>
            <a:r>
              <a:rPr lang="en-US" sz="44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CANCHA Y</a:t>
            </a:r>
            <a:endParaRPr lang="en-US" sz="4400" dirty="0"/>
          </a:p>
          <a:p>
            <a:pPr algn="l" indent="0" marL="0">
              <a:lnSpc>
                <a:spcPts val="4312"/>
              </a:lnSpc>
              <a:buNone/>
            </a:pPr>
            <a:r>
              <a:rPr lang="en-US" sz="44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CAMARÍN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58368" y="175564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67A3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La liga asigna el camarín de cada equipo</a:t>
            </a:r>
            <a:endParaRPr lang="en-US" sz="2600" dirty="0"/>
          </a:p>
        </p:txBody>
      </p:sp>
      <p:pic>
        <p:nvPicPr>
          <p:cNvPr id="5" name="Image 0" descr="/root/.claude/skills/synced/liv-presentation/assets/fotos/complejo-canch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2487168"/>
            <a:ext cx="6858000" cy="36758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2542032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18120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540496" y="2569464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32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Cancha 1 → camarines 1 y 2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818120" y="33832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18120" y="3383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C3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540496" y="3410712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32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Cancha 3 → camarines 3 y 4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7818120" y="4224528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42245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540496" y="4251960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32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Cancha 2 → camarines 5 y 6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818120" y="5065776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5065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C4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540496" y="5093208"/>
            <a:ext cx="2999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327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Cancha 4 → camarines 7 y 8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818120" y="5870448"/>
            <a:ext cx="3721608" cy="310896"/>
          </a:xfrm>
          <a:prstGeom prst="roundRect">
            <a:avLst>
              <a:gd name="adj" fmla="val 50000"/>
            </a:avLst>
          </a:prstGeom>
          <a:solidFill>
            <a:srgbClr val="D7EFE1"/>
          </a:solidFill>
          <a:ln w="12700">
            <a:solidFill>
              <a:srgbClr val="D7EF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18120" y="5870448"/>
            <a:ext cx="3721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64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canchas de pasto natural. El camarín lo designa la Liga para cada equipo.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58368" y="63093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A9B5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skills/synced/liv-presentation/assets/fotos/duo-acc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0"/>
            <a:ext cx="5285232" cy="6858000"/>
          </a:xfrm>
          <a:prstGeom prst="rect">
            <a:avLst/>
          </a:prstGeom>
        </p:spPr>
      </p:pic>
      <p:pic>
        <p:nvPicPr>
          <p:cNvPr id="3" name="Image 1" descr="/root/.claude/skills/synced/liv-presentation/assets/st-green-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0372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8368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67A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SECCIÓN 2 · EL FIXTURE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658368" y="1700784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EL FIXTURE</a:t>
            </a:r>
            <a:endParaRPr lang="en-US" sz="4200" dirty="0"/>
          </a:p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YA ESTÁ</a:t>
            </a:r>
            <a:endParaRPr lang="en-US" sz="4200" dirty="0"/>
          </a:p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PUBLICADO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658368" y="3767328"/>
            <a:ext cx="5577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339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el campeonato está publicado en somosliv.cl, fecha a fecha, con cada detalle: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339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horario, número de cancha, camarín por equipo, condición de local o visita, premio de auspiciador que se juega, y si el partido se graba o no.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658368" y="63093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A9B5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skills/synced/liv-presentation/assets/st-white-vert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0" y="0"/>
            <a:ext cx="84124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8132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12B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SECCIÓN 3 · CONVIVENCIA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481328" y="987552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TOLERANCIA</a:t>
            </a:r>
            <a:endParaRPr lang="en-US" sz="4200" dirty="0"/>
          </a:p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CERO</a:t>
            </a:r>
            <a:endParaRPr lang="en-US" sz="4200" dirty="0"/>
          </a:p>
        </p:txBody>
      </p:sp>
      <p:sp>
        <p:nvSpPr>
          <p:cNvPr id="5" name="Shape 2"/>
          <p:cNvSpPr/>
          <p:nvPr/>
        </p:nvSpPr>
        <p:spPr>
          <a:xfrm>
            <a:off x="1481328" y="2139696"/>
            <a:ext cx="9966960" cy="838962"/>
          </a:xfrm>
          <a:prstGeom prst="roundRect">
            <a:avLst>
              <a:gd name="adj" fmla="val 17439"/>
            </a:avLst>
          </a:prstGeom>
          <a:solidFill>
            <a:srgbClr val="141F17"/>
          </a:solidFill>
          <a:ln w="12700">
            <a:solidFill>
              <a:srgbClr val="22322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755648" y="2220849"/>
            <a:ext cx="676656" cy="676656"/>
          </a:xfrm>
          <a:prstGeom prst="roundRect">
            <a:avLst>
              <a:gd name="adj" fmla="val 21622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755648" y="2220849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651760" y="2340864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8F54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AGRESIÓN FÍSICA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651760" y="2724912"/>
            <a:ext cx="850392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7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Roja por agredir: suspensión mínima de 4 fechas, ampliable hasta la expulsión definitiva de la LIV.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481328" y="3124962"/>
            <a:ext cx="9966960" cy="838962"/>
          </a:xfrm>
          <a:prstGeom prst="roundRect">
            <a:avLst>
              <a:gd name="adj" fmla="val 17439"/>
            </a:avLst>
          </a:prstGeom>
          <a:solidFill>
            <a:srgbClr val="141F17"/>
          </a:solidFill>
          <a:ln w="12700">
            <a:solidFill>
              <a:srgbClr val="22322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55648" y="3206115"/>
            <a:ext cx="676656" cy="676656"/>
          </a:xfrm>
          <a:prstGeom prst="roundRect">
            <a:avLst>
              <a:gd name="adj" fmla="val 21622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55648" y="3206115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651760" y="332613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8F54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RIÑAS Y PELEAS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2651760" y="3710178"/>
            <a:ext cx="850392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7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Tolerancia cero. Participar activamente = expulsión inmediata y definitiva de la Liga.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481328" y="4110228"/>
            <a:ext cx="9966960" cy="838962"/>
          </a:xfrm>
          <a:prstGeom prst="roundRect">
            <a:avLst>
              <a:gd name="adj" fmla="val 17439"/>
            </a:avLst>
          </a:prstGeom>
          <a:solidFill>
            <a:srgbClr val="141F17"/>
          </a:solidFill>
          <a:ln w="12700">
            <a:solidFill>
              <a:srgbClr val="22322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55648" y="4191381"/>
            <a:ext cx="676656" cy="676656"/>
          </a:xfrm>
          <a:prstGeom prst="roundRect">
            <a:avLst>
              <a:gd name="adj" fmla="val 21622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755648" y="4191381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651760" y="4311396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8F54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PELEAS COLECTIVAS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2651760" y="4695444"/>
            <a:ext cx="850392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7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 participan 2 o más jugadores de un mismo equipo, el equipo completo queda fuera de la competencia.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1481328" y="5095494"/>
            <a:ext cx="9966960" cy="838962"/>
          </a:xfrm>
          <a:prstGeom prst="roundRect">
            <a:avLst>
              <a:gd name="adj" fmla="val 17439"/>
            </a:avLst>
          </a:prstGeom>
          <a:solidFill>
            <a:srgbClr val="141F17"/>
          </a:solidFill>
          <a:ln w="12700">
            <a:solidFill>
              <a:srgbClr val="22322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755648" y="5176647"/>
            <a:ext cx="676656" cy="676656"/>
          </a:xfrm>
          <a:prstGeom prst="roundRect">
            <a:avLst>
              <a:gd name="adj" fmla="val 21622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755648" y="5176647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2651760" y="529666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8F54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EVIDENCIA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2651760" y="5680710"/>
            <a:ext cx="8503920" cy="180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7B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Usamos todo el material audiovisual disponible para hacer cumplir el reglamento.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58368" y="63093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6E81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67A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SECCIÓN 3 · PUNTUALIDAD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LA HORA</a:t>
            </a:r>
            <a:endParaRPr lang="en-US" sz="4200" dirty="0"/>
          </a:p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MANDA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responsabilidad de todos: organización, árbitros y equipos.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432304"/>
            <a:ext cx="3417722" cy="3602736"/>
          </a:xfrm>
          <a:prstGeom prst="roundRect">
            <a:avLst>
              <a:gd name="adj" fmla="val 5351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26883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8F54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10'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69264" y="3310128"/>
            <a:ext cx="279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TOLERANCIA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9264" y="3877056"/>
            <a:ext cx="1499616" cy="347472"/>
          </a:xfrm>
          <a:prstGeom prst="roundRect">
            <a:avLst>
              <a:gd name="adj" fmla="val 50000"/>
            </a:avLst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9264" y="387705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60" kern="0" dirty="0">
                <a:solidFill>
                  <a:srgbClr val="1F3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máximo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69264" y="4352544"/>
            <a:ext cx="279593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B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10 minutos desde la hora oficial. Los minutos transcurridos no se recuperan.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6986" y="2432304"/>
            <a:ext cx="3417722" cy="3602736"/>
          </a:xfrm>
          <a:prstGeom prst="roundRect">
            <a:avLst>
              <a:gd name="adj" fmla="val 5351"/>
            </a:avLst>
          </a:prstGeom>
          <a:solidFill>
            <a:srgbClr val="FFFFFF"/>
          </a:solidFill>
          <a:ln w="12700">
            <a:solidFill>
              <a:srgbClr val="D9E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97882" y="26883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67A3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?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697882" y="3310128"/>
            <a:ext cx="279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ESPERAR</a:t>
            </a:r>
            <a:endParaRPr lang="en-US" sz="2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 W.O.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697882" y="4224528"/>
            <a:ext cx="2795930" cy="347472"/>
          </a:xfrm>
          <a:prstGeom prst="roundRect">
            <a:avLst>
              <a:gd name="adj" fmla="val 50000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7882" y="4224528"/>
            <a:ext cx="279593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6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el rival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97882" y="4700016"/>
            <a:ext cx="279593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Cumplida la tolerancia, el equipo bien presentado decide esperar o pasar el W.O.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15605" y="2432304"/>
            <a:ext cx="3417722" cy="3602736"/>
          </a:xfrm>
          <a:prstGeom prst="roundRect">
            <a:avLst>
              <a:gd name="adj" fmla="val 5351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26501" y="26883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8F54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-9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426501" y="3310128"/>
            <a:ext cx="279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MENOS DE 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426501" y="3877056"/>
            <a:ext cx="2542032" cy="347472"/>
          </a:xfrm>
          <a:prstGeom prst="roundRect">
            <a:avLst>
              <a:gd name="adj" fmla="val 50000"/>
            </a:avLst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26501" y="387705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60" kern="0" dirty="0">
                <a:solidFill>
                  <a:srgbClr val="1F3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W.O. + multa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26501" y="4352544"/>
            <a:ext cx="279593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B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menos de 9 jugadores no se puede jugar: es W.O. y tiene multa.</a:t>
            </a:r>
            <a:endParaRPr lang="en-US" sz="1200" dirty="0"/>
          </a:p>
        </p:txBody>
      </p:sp>
      <p:pic>
        <p:nvPicPr>
          <p:cNvPr id="23" name="Image 0" descr="/root/.claude/skills/synced/liv-presentation/assets/st-green-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291072"/>
            <a:ext cx="12191695" cy="56692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58368" y="563270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A9B5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67A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SECCIÓN 3 · EL RECINTO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RESPETO</a:t>
            </a:r>
            <a:endParaRPr lang="en-US" sz="4200" dirty="0"/>
          </a:p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DE LA CASA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Liga deportiva familiar: cuidamos la tranquilidad de familias y niños.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432304"/>
            <a:ext cx="3417722" cy="3602736"/>
          </a:xfrm>
          <a:prstGeom prst="roundRect">
            <a:avLst>
              <a:gd name="adj" fmla="val 5351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" y="26883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8F54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69264" y="3310128"/>
            <a:ext cx="279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ZONA DE</a:t>
            </a:r>
            <a:endParaRPr lang="en-US" sz="2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BANCAS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9264" y="4224528"/>
            <a:ext cx="279593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B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Solo jugadores y actividad deportiva. Prohibido el mal uso y las sustancias. Se deja limpia.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6986" y="2432304"/>
            <a:ext cx="3417722" cy="3602736"/>
          </a:xfrm>
          <a:prstGeom prst="roundRect">
            <a:avLst>
              <a:gd name="adj" fmla="val 5351"/>
            </a:avLst>
          </a:prstGeom>
          <a:solidFill>
            <a:srgbClr val="FFFFFF"/>
          </a:solidFill>
          <a:ln w="12700">
            <a:solidFill>
              <a:srgbClr val="D9E6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7882" y="26883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67A3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97882" y="3310128"/>
            <a:ext cx="279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CAMARINES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97882" y="3877056"/>
            <a:ext cx="279593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usa el camarín asignado por la Liga, por orden y respeto.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15605" y="2432304"/>
            <a:ext cx="3417722" cy="3602736"/>
          </a:xfrm>
          <a:prstGeom prst="roundRect">
            <a:avLst>
              <a:gd name="adj" fmla="val 5351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26501" y="26883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8F54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426501" y="3310128"/>
            <a:ext cx="279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ALCOHOL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26501" y="3877056"/>
            <a:ext cx="279593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B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Prohibido en zonas deportivas (bancas, galerías, camarines). Solo en club house y quinchos.</a:t>
            </a:r>
            <a:endParaRPr lang="en-US" sz="1200" dirty="0"/>
          </a:p>
        </p:txBody>
      </p:sp>
      <p:pic>
        <p:nvPicPr>
          <p:cNvPr id="17" name="Image 0" descr="/root/.claude/skills/synced/liv-presentation/assets/st-green-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291072"/>
            <a:ext cx="12191695" cy="56692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8368" y="563270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A9B5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skills/synced/liv-presentation/assets/fotos/duo-famil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285232" cy="6858000"/>
          </a:xfrm>
          <a:prstGeom prst="rect">
            <a:avLst/>
          </a:prstGeom>
        </p:spPr>
      </p:pic>
      <p:pic>
        <p:nvPicPr>
          <p:cNvPr id="3" name="Image 1" descr="/root/.claude/skills/synced/liv-presentation/assets/st-green-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232" y="0"/>
            <a:ext cx="690372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67A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SECCIÓN 3 · CUMPLIMIENTO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5943600" y="1700784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 FIRMA</a:t>
            </a:r>
            <a:endParaRPr lang="en-US" sz="4200" dirty="0"/>
          </a:p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 CARNET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5943600" y="3767328"/>
            <a:ext cx="5577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339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jugador firma la planilla mostrando su cédula de identidad; los planilleros la verifican en ese momento.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3339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Cualquier suplantación de identidad se sanciona con la suspensión del suplantado y del suplantador por toda la Liga, y el equipo infractor pierde el partido 0-3.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658368" y="63093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A9B5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pic>
        <p:nvPicPr>
          <p:cNvPr id="3" name="Image 0" descr="/root/.claude/skills/synced/liv-presentation/assets/st-white-soft-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029200" cy="1051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1335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60" kern="0" dirty="0">
                <a:solidFill>
                  <a:srgbClr val="C8F54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SECCIÓN 4 · DISCIPLINA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58368" y="1847088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COMITÉ DE</a:t>
            </a:r>
            <a:endParaRPr lang="en-US" sz="40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DISCIPLINA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658368" y="3364992"/>
            <a:ext cx="1673352" cy="347472"/>
          </a:xfrm>
          <a:prstGeom prst="roundRect">
            <a:avLst>
              <a:gd name="adj" fmla="val 50000"/>
            </a:avLst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364992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60" kern="0" dirty="0">
                <a:solidFill>
                  <a:srgbClr val="1F3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VOTOS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58368" y="3931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FEB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órgano equilibrado que resuelve con evidencia, no con impresiones.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8368" y="5029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Se apela con video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577840" y="9326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CÓMO SE COMPONE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5577840" y="1517904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1517904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CUERPO ARBITRAL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059168" y="149047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9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voto.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577840" y="2304288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77840" y="2304288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DIRECTIVA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59168" y="2276856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9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voto.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577840" y="3090672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77840" y="3090672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EQUIPOS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059168" y="306324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9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voto, a través de 3 representantes.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577840" y="3877056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0" y="387705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QUÓRUM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059168" y="384962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9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Mínimo 1 representante de cada estamento.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577840" y="466344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77840" y="4663440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059168" y="463600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339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resuelve con informe arbitral y material audiovisual.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577840" y="6071616"/>
            <a:ext cx="5961888" cy="402336"/>
          </a:xfrm>
          <a:prstGeom prst="roundRect">
            <a:avLst>
              <a:gd name="adj" fmla="val 36364"/>
            </a:avLst>
          </a:prstGeom>
          <a:solidFill>
            <a:srgbClr val="FFF6D9"/>
          </a:solidFill>
          <a:ln w="12700">
            <a:solidFill>
              <a:srgbClr val="F0DF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77840" y="6071616"/>
            <a:ext cx="5961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5B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Hoy elegimos a los 3 representantes de los equipos.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58368" y="63093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A9B5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067A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SECCIÓN 4 · CÓMO OPERA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CUÁNDO</a:t>
            </a:r>
            <a:endParaRPr lang="en-US" sz="4200" dirty="0"/>
          </a:p>
          <a:p>
            <a:pPr algn="l" indent="0" marL="0">
              <a:lnSpc>
                <a:spcPts val="4116"/>
              </a:lnSpc>
              <a:buNone/>
            </a:pPr>
            <a:r>
              <a:rPr lang="en-US" sz="42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SESIONA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658368" y="2286000"/>
            <a:ext cx="3417722" cy="3749040"/>
          </a:xfrm>
          <a:prstGeom prst="roundRect">
            <a:avLst>
              <a:gd name="adj" fmla="val 5351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25420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8F54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69264" y="3163824"/>
            <a:ext cx="279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SANCIÓN</a:t>
            </a:r>
            <a:endParaRPr lang="en-US" sz="2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AUTOMÁTICA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69264" y="4078224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407822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60" kern="0" dirty="0">
                <a:solidFill>
                  <a:srgbClr val="1F3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sesión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9264" y="4553712"/>
            <a:ext cx="279593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B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aplica directo por tabla. Ej.: la doble amarilla es roja pero no tiene suspensión para la fecha siguiente.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6986" y="2286000"/>
            <a:ext cx="3417722" cy="3749040"/>
          </a:xfrm>
          <a:prstGeom prst="roundRect">
            <a:avLst>
              <a:gd name="adj" fmla="val 5351"/>
            </a:avLst>
          </a:prstGeom>
          <a:solidFill>
            <a:srgbClr val="FFFFFF"/>
          </a:solidFill>
          <a:ln w="12700">
            <a:solidFill>
              <a:srgbClr val="D9E6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7882" y="25420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67A3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B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97882" y="3163824"/>
            <a:ext cx="279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SANCIÓN DE</a:t>
            </a:r>
            <a:endParaRPr lang="en-US" sz="20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23271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COMITÉ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697882" y="4078224"/>
            <a:ext cx="1673352" cy="347472"/>
          </a:xfrm>
          <a:prstGeom prst="roundRect">
            <a:avLst>
              <a:gd name="adj" fmla="val 50000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7882" y="4078224"/>
            <a:ext cx="1673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6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sesiona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97882" y="4553712"/>
            <a:ext cx="279593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2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Faltas graves que se tipifican caso a caso; el comité fija la sanción con la evidencia.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15605" y="2286000"/>
            <a:ext cx="3417722" cy="3749040"/>
          </a:xfrm>
          <a:prstGeom prst="roundRect">
            <a:avLst>
              <a:gd name="adj" fmla="val 5351"/>
            </a:avLst>
          </a:prstGeom>
          <a:solidFill>
            <a:srgbClr val="067A3E"/>
          </a:solidFill>
          <a:ln w="12700">
            <a:solidFill>
              <a:srgbClr val="067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6501" y="2542032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8F542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426501" y="3163824"/>
            <a:ext cx="279593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APELACIÓN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426501" y="3730752"/>
            <a:ext cx="2020824" cy="347472"/>
          </a:xfrm>
          <a:prstGeom prst="roundRect">
            <a:avLst>
              <a:gd name="adj" fmla="val 50000"/>
            </a:avLst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26501" y="3730752"/>
            <a:ext cx="2020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60" kern="0" dirty="0">
                <a:solidFill>
                  <a:srgbClr val="1F3D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video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26501" y="4206240"/>
            <a:ext cx="279593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EBD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Siempre se puede apelar con material audiovisual; el comité decide según la evidencia presentada.</a:t>
            </a:r>
            <a:endParaRPr lang="en-US" sz="1200" dirty="0"/>
          </a:p>
        </p:txBody>
      </p:sp>
      <p:pic>
        <p:nvPicPr>
          <p:cNvPr id="22" name="Image 0" descr="/root/.claude/skills/synced/liv-presentation/assets/st-green-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291072"/>
            <a:ext cx="12191695" cy="56692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58368" y="563270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40" kern="0" dirty="0">
                <a:solidFill>
                  <a:srgbClr val="A9B5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root/.claude/skills/synced/liv-presentation/assets/st-white-v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97280" cy="6858000"/>
          </a:xfrm>
          <a:prstGeom prst="rect">
            <a:avLst/>
          </a:prstGeom>
        </p:spPr>
      </p:pic>
      <p:pic>
        <p:nvPicPr>
          <p:cNvPr id="3" name="Image 1" descr="/root/.claude/skills/synced/liv-presentation/assets/st-green-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06440"/>
            <a:ext cx="12191695" cy="1051560"/>
          </a:xfrm>
          <a:prstGeom prst="rect">
            <a:avLst/>
          </a:prstGeom>
        </p:spPr>
      </p:pic>
      <p:pic>
        <p:nvPicPr>
          <p:cNvPr id="4" name="Image 2" descr="/root/.claude/skills/synced/liv-presentation/assets/logo-liv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495" y="713232"/>
            <a:ext cx="1828800" cy="18288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828800" y="17373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MANOS A</a:t>
            </a:r>
            <a:endParaRPr lang="en-US" sz="7000" dirty="0"/>
          </a:p>
          <a:p>
            <a:pPr indent="0" marL="0">
              <a:buNone/>
            </a:pPr>
            <a:r>
              <a:rPr lang="en-US" sz="70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LA OBRA</a:t>
            </a:r>
            <a:endParaRPr lang="en-US" sz="7000" dirty="0"/>
          </a:p>
        </p:txBody>
      </p:sp>
      <p:sp>
        <p:nvSpPr>
          <p:cNvPr id="6" name="Text 1"/>
          <p:cNvSpPr/>
          <p:nvPr/>
        </p:nvSpPr>
        <p:spPr>
          <a:xfrm>
            <a:off x="1865376" y="3054096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8F54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Nos vemos el sábado 29 en Deggiano</a:t>
            </a:r>
            <a:endParaRPr lang="en-US" sz="3600" dirty="0"/>
          </a:p>
        </p:txBody>
      </p:sp>
      <p:sp>
        <p:nvSpPr>
          <p:cNvPr id="7" name="Text 2"/>
          <p:cNvSpPr/>
          <p:nvPr/>
        </p:nvSpPr>
        <p:spPr>
          <a:xfrm>
            <a:off x="1828800" y="43159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12B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SITIO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1828800" y="45902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somosliv.cl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4937760" y="43159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12B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SEDE</a:t>
            </a:r>
            <a:endParaRPr lang="en-US" sz="1000" dirty="0"/>
          </a:p>
        </p:txBody>
      </p:sp>
      <p:sp>
        <p:nvSpPr>
          <p:cNvPr id="10" name="Text 5"/>
          <p:cNvSpPr/>
          <p:nvPr/>
        </p:nvSpPr>
        <p:spPr>
          <a:xfrm>
            <a:off x="4937760" y="45902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Complejo Deggiano · Peñuelas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8046720" y="43159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12B8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ESTRENO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8046720" y="45902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Sábado 29 de agosto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LIV 2026 · Reunión de Delegados — Serie Junior</dc:title>
  <dc:subject>PptxGenJS Presentation</dc:subject>
  <dc:creator>LIV — Liga La Cuarta</dc:creator>
  <cp:lastModifiedBy>LIV — Liga La Cuarta</cp:lastModifiedBy>
  <cp:revision>1</cp:revision>
  <dcterms:created xsi:type="dcterms:W3CDTF">2026-08-26T03:01:10Z</dcterms:created>
  <dcterms:modified xsi:type="dcterms:W3CDTF">2026-08-26T03:01:10Z</dcterms:modified>
</cp:coreProperties>
</file>